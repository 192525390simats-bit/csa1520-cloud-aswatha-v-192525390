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4"/>
  </p:notesMasterIdLst>
  <p:sldIdLst>
    <p:sldId id="319" r:id="rId2"/>
    <p:sldId id="444" r:id="rId3"/>
    <p:sldId id="443" r:id="rId4"/>
    <p:sldId id="316" r:id="rId5"/>
    <p:sldId id="420" r:id="rId6"/>
    <p:sldId id="422" r:id="rId7"/>
    <p:sldId id="445" r:id="rId8"/>
    <p:sldId id="423" r:id="rId9"/>
    <p:sldId id="446" r:id="rId10"/>
    <p:sldId id="427" r:id="rId11"/>
    <p:sldId id="428" r:id="rId12"/>
    <p:sldId id="44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291" autoAdjust="0"/>
  </p:normalViewPr>
  <p:slideViewPr>
    <p:cSldViewPr>
      <p:cViewPr varScale="1">
        <p:scale>
          <a:sx n="85" d="100"/>
          <a:sy n="85" d="100"/>
        </p:scale>
        <p:origin x="133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4A4B-0550-7E87-0EFF-98386E4F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5C638-2836-26CF-BC32-269AAEC9A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C3218-810B-74A4-683A-F5296CDFC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E05D5-8C36-00E0-1949-6E5D838F4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259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1729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372519"/>
            <a:ext cx="8686800" cy="137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endParaRPr/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9" name="TextBox 13318"/>
          <p:cNvSpPr txBox="1"/>
          <p:nvPr/>
        </p:nvSpPr>
        <p:spPr>
          <a:xfrm>
            <a:off x="1752600" y="19322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/>
              <a:t>CLOUD SECURITY FUNDAMENTALS</a:t>
            </a:r>
          </a:p>
        </p:txBody>
      </p:sp>
      <p:sp>
        <p:nvSpPr>
          <p:cNvPr id="13324" name="TextBox 13323"/>
          <p:cNvSpPr txBox="1"/>
          <p:nvPr/>
        </p:nvSpPr>
        <p:spPr>
          <a:xfrm>
            <a:off x="228600" y="3151370"/>
            <a:ext cx="437388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Course: Cloud Computing and Big Data Analytics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Guided By: Dr. A.M. Arul Raj</a:t>
            </a:r>
          </a:p>
          <a:p>
            <a:pPr>
              <a:spcAft>
                <a:spcPts val="1000"/>
              </a:spcAft>
              <a:defRPr sz="1600"/>
            </a:pPr>
            <a:endParaRPr lang="en-US" dirty="0"/>
          </a:p>
          <a:p>
            <a:pPr>
              <a:spcAft>
                <a:spcPts val="1000"/>
              </a:spcAft>
              <a:defRPr sz="1600"/>
            </a:pPr>
            <a:r>
              <a:rPr lang="en-US" dirty="0"/>
              <a:t>               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AA9B8-3BCC-4170-BC96-B2E43D7E4C94}"/>
              </a:ext>
            </a:extLst>
          </p:cNvPr>
          <p:cNvSpPr txBox="1"/>
          <p:nvPr/>
        </p:nvSpPr>
        <p:spPr>
          <a:xfrm>
            <a:off x="6705600" y="3429000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 BY:</a:t>
            </a:r>
          </a:p>
          <a:p>
            <a:r>
              <a:rPr lang="en-US" dirty="0"/>
              <a:t>ASWATHA V</a:t>
            </a:r>
          </a:p>
          <a:p>
            <a:r>
              <a:rPr lang="en-US" dirty="0"/>
              <a:t>SUSHMITHA S</a:t>
            </a: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38B542C-F576-40B7-81C4-A416031CBA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8057" y="2133600"/>
            <a:ext cx="7180171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understand the fundamentals of cloud security.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protecting cloud-based data and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explains different security models used in cloud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explains the responsibilities of providers and customers.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common security practices used in real-world systems. </a:t>
            </a:r>
          </a:p>
        </p:txBody>
      </p:sp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D260FA1-2013-498D-9BD6-749EAB3F46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082" y="2278379"/>
            <a:ext cx="8457765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allows users to access data and applications over the internet.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protects these resources from various cyber threats.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can result in data loss and privacy issues.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ensures that only authorized users can access resources.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protects sensitive information from unauthorized use. </a:t>
            </a:r>
          </a:p>
        </p:txBody>
      </p:sp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152400" y="2465172"/>
            <a:ext cx="2743200" cy="792162"/>
          </a:xfrm>
          <a:prstGeom prst="roundRect">
            <a:avLst/>
          </a:prstGeom>
          <a:solidFill>
            <a:srgbClr val="EBF2FA"/>
          </a:solidFill>
          <a:ln>
            <a:solidFill>
              <a:srgbClr val="4B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/>
              <a:t>1. Identity &amp; Access
IAM • MFA • Least privilege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7735" y="2455596"/>
            <a:ext cx="2948529" cy="801738"/>
          </a:xfrm>
          <a:prstGeom prst="roundRect">
            <a:avLst/>
          </a:prstGeom>
          <a:solidFill>
            <a:srgbClr val="EBF2FA"/>
          </a:solidFill>
          <a:ln>
            <a:solidFill>
              <a:srgbClr val="4B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/>
              <a:t>2. Data Protection
Encryption • Key management • Backup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627" y="2499777"/>
            <a:ext cx="2803973" cy="801739"/>
          </a:xfrm>
          <a:prstGeom prst="roundRect">
            <a:avLst/>
          </a:prstGeom>
          <a:solidFill>
            <a:srgbClr val="EBF2FA"/>
          </a:solidFill>
          <a:ln>
            <a:solidFill>
              <a:srgbClr val="4B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/>
              <a:t>3. Network &amp; App Security
Segmentation • Firewalls • Secure code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E83EFE0-8190-4620-8160-B3A299AC0B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2149" y="3240103"/>
            <a:ext cx="7918771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Identity and Access Management controls access to cloud resources.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provides an additional layer of login security.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protects data during storage and transmission.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Firewalls control unwanted network traffic.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monitoring helps detect suspicious activities.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/ Common Cloud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E0AA255-0E0C-4FD3-AA13-0AB34D5E46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5258" y="2195138"/>
            <a:ext cx="836697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mainly depend on locally managed security infrastructure.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management requires regular manual maintenance.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 security becomes difficult when the number of users increases.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failures can affect application availability.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are responsible for managing most security components. </a:t>
            </a:r>
          </a:p>
        </p:txBody>
      </p:sp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425" y="1554163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66800" y="2667000"/>
            <a:ext cx="70866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9057251-F7C5-4749-95B9-A8AA061E6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941" y="2193377"/>
            <a:ext cx="6986208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cloud-based security mechanisms.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controlled access through IAM and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protects sensitive data using encryption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monitors activities to detect security threats.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backup and recovery mechanisms for data protection. </a:t>
            </a:r>
          </a:p>
        </p:txBody>
      </p:sp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43" y="1752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1066800" y="2667000"/>
            <a:ext cx="70866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178942" y="3115654"/>
            <a:ext cx="2499360" cy="2804159"/>
          </a:xfrm>
          <a:prstGeom prst="roundRect">
            <a:avLst/>
          </a:prstGeom>
          <a:solidFill>
            <a:srgbClr val="ECF5EC"/>
          </a:solidFill>
          <a:ln>
            <a:solidFill>
              <a:srgbClr val="46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dirty="0"/>
              <a:t>CUSTOMER
• Data &amp; classification
• Identities / IAM
• Applications &amp; code
• Configurations
• OS &amp; patches (IaaS)
• Network controls
•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2418" y="3383280"/>
            <a:ext cx="2499360" cy="2129118"/>
          </a:xfrm>
          <a:prstGeom prst="roundRect">
            <a:avLst/>
          </a:prstGeom>
          <a:solidFill>
            <a:srgbClr val="F6F1DE"/>
          </a:solidFill>
          <a:ln>
            <a:solidFill>
              <a:srgbClr val="91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/>
              <a:t>SHARED
RESPONSIBILITY
Security controls
vary by service model
IaaS → PaaS → SaaS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810" y="3079376"/>
            <a:ext cx="2773680" cy="2636520"/>
          </a:xfrm>
          <a:prstGeom prst="roundRect">
            <a:avLst/>
          </a:prstGeom>
          <a:solidFill>
            <a:srgbClr val="EBEFF9"/>
          </a:solidFill>
          <a:ln>
            <a:solidFill>
              <a:srgbClr val="46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/>
              <a:t>CLOUD PROVIDER
• Physical datacenter
• Physical network
• Hardware
• Hypervisor
• Managed platform
• Infrastructure security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43434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432816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6002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/>
              <a:t>Real-world Use Case in Cloud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847725" y="2514600"/>
            <a:ext cx="70866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152400" y="2514600"/>
            <a:ext cx="2590800" cy="944994"/>
          </a:xfrm>
          <a:prstGeom prst="roundRect">
            <a:avLst/>
          </a:prstGeom>
          <a:solidFill>
            <a:srgbClr val="EBF2FA"/>
          </a:solidFill>
          <a:ln>
            <a:solidFill>
              <a:srgbClr val="4B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/>
              <a:t>Scenario
E-commerce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529417"/>
            <a:ext cx="2806065" cy="884766"/>
          </a:xfrm>
          <a:prstGeom prst="roundRect">
            <a:avLst/>
          </a:prstGeom>
          <a:solidFill>
            <a:srgbClr val="EBF2FA"/>
          </a:solidFill>
          <a:ln>
            <a:solidFill>
              <a:srgbClr val="4B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/>
              <a:t>Cloud Services
Compute + Database +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4799" y="2567094"/>
            <a:ext cx="2779171" cy="892500"/>
          </a:xfrm>
          <a:prstGeom prst="roundRect">
            <a:avLst/>
          </a:prstGeom>
          <a:solidFill>
            <a:srgbClr val="EBF2FA"/>
          </a:solidFill>
          <a:ln>
            <a:solidFill>
              <a:srgbClr val="4B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/>
              <a:t>Security Controls
IAM + Encryption + Monitoring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9718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23585" y="2987097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F55AEB2A-708E-4512-8678-A7DF0876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203681"/>
            <a:ext cx="8382000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Banks use cloud security to protect financial and customer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Hospitals use cloud security to protect patient records.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use cloud security to protect customer data.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use cloud security to protect student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organizations use cloud security to protect public services and records. </a:t>
            </a:r>
          </a:p>
        </p:txBody>
      </p:sp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C007-5E4E-CA02-94A4-65E20D56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9BF2-3583-BCB8-E168-FCD43BF2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Takeaway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2AD04-2290-7D34-A621-A15516D4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1B50FCD3-154E-CDBE-CA92-7C01C4335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2521E-F0D4-3EDB-FC74-40A26978BBDA}"/>
              </a:ext>
            </a:extLst>
          </p:cNvPr>
          <p:cNvSpPr txBox="1"/>
          <p:nvPr/>
        </p:nvSpPr>
        <p:spPr>
          <a:xfrm>
            <a:off x="838200" y="2828836"/>
            <a:ext cx="723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C7038AF-C3E4-44A7-8FE9-A5BC1A84F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177810"/>
            <a:ext cx="7481535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is essential for protecting modern cloud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authorization prevent unauthorized access.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protects sensitive data from security threats.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helps organizations identify and respond to attacks.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Shared Responsibility Model improves overall cloud security. </a:t>
            </a:r>
          </a:p>
        </p:txBody>
      </p:sp>
    </p:spTree>
    <p:extLst>
      <p:ext uri="{BB962C8B-B14F-4D97-AF65-F5344CB8AC3E}">
        <p14:creationId xmlns:p14="http://schemas.microsoft.com/office/powerpoint/2010/main" val="165674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838200" y="2828836"/>
            <a:ext cx="723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5369" y="2815826"/>
            <a:ext cx="733044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SP 500-291 – Cloud Computing Standards Roadmap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SP 500-292 – NIST Cloud Computing Reference Architecture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– Shared Responsibility Model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Learn – Shared Responsibility in the Cloud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Well-Architected Framework – Security Pillar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Accessed: October 2026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27470" y="6325871"/>
            <a:ext cx="2057400" cy="365125"/>
          </a:xfrm>
        </p:spPr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87755" y="2219184"/>
            <a:ext cx="7086600" cy="2362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" y="32448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180AA1-2AC2-4DE7-AE0C-B9752D9ED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380" y="1237186"/>
            <a:ext cx="39433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380" y="2859230"/>
            <a:ext cx="7499350" cy="792162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27470" y="6325871"/>
            <a:ext cx="2057400" cy="365125"/>
          </a:xfrm>
        </p:spPr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87755" y="2219184"/>
            <a:ext cx="7086600" cy="2362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" y="32448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85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5914</TotalTime>
  <Words>576</Words>
  <Application>Microsoft Office PowerPoint</Application>
  <PresentationFormat>On-screen Show (4:3)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AvantGarde</vt:lpstr>
      <vt:lpstr>Calibri</vt:lpstr>
      <vt:lpstr>Calibri Light</vt:lpstr>
      <vt:lpstr>Times New Roman</vt:lpstr>
      <vt:lpstr>Office Theme</vt:lpstr>
      <vt:lpstr>PowerPoint Presentation</vt:lpstr>
      <vt:lpstr>Aim and Objectives</vt:lpstr>
      <vt:lpstr>Introduction</vt:lpstr>
      <vt:lpstr>Core Technical </vt:lpstr>
      <vt:lpstr>Existing System / Common Cloud Risks</vt:lpstr>
      <vt:lpstr>Proposed System</vt:lpstr>
      <vt:lpstr> System Architecture</vt:lpstr>
      <vt:lpstr>Real-world Use Case in Cloud Computing</vt:lpstr>
      <vt:lpstr>Conclusion &amp; Key Takeaway</vt:lpstr>
      <vt:lpstr>References</vt:lpstr>
      <vt:lpstr>PowerPoint Presentation</vt:lpstr>
      <vt:lpstr>Thank You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Harsha</cp:lastModifiedBy>
  <cp:revision>433</cp:revision>
  <dcterms:created xsi:type="dcterms:W3CDTF">2000-07-06T15:05:59Z</dcterms:created>
  <dcterms:modified xsi:type="dcterms:W3CDTF">2026-10-05T07:21:19Z</dcterms:modified>
</cp:coreProperties>
</file>